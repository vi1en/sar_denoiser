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2600" b="1">
                <a:solidFill>
                  <a:srgbClr val="1A1A1A"/>
                </a:solidFill>
              </a:defRPr>
            </a:pPr>
            <a:r>
              <a:t>SAR Image Denoising System — Improvements &amp; Validation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Enhancing denoising with validation, metrics, and system design</a:t>
            </a:r>
          </a:p>
          <a:p>
            <a:pPr>
              <a:defRPr sz="1400">
                <a:solidFill>
                  <a:srgbClr val="333333"/>
                </a:solidFill>
              </a:defRPr>
            </a:pP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Manab Mallick · Sayan Mondal · Anubhav Ray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Prof. Soumen Pandit · Indian Institute of Information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2E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24128"/>
            <a:ext cx="11155680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SAR images contain heavy speckle noise.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Speckle makes images grainy and hard to read.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Different patches can look visually similar.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Hard to verify the model without metrics.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Evaluation and proof were incomplete.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80720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E5EAA"/>
                </a:solidFill>
              </a:defRPr>
            </a:pPr>
            <a:r>
              <a:t>Formula: I = R × n  (observed = reflectivity × speckle factor)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282696"/>
            <a:ext cx="1115568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1A1A1A"/>
                </a:solidFill>
              </a:defRPr>
            </a:pPr>
            <a:r>
              <a:t>Speckle is multiplicative: I = R × n.</a:t>
            </a:r>
          </a:p>
          <a:p>
            <a:pPr>
              <a:defRPr sz="1200" i="1">
                <a:solidFill>
                  <a:srgbClr val="1A1A1A"/>
                </a:solidFill>
              </a:defRPr>
            </a:pPr>
            <a:r>
              <a:t>So noise scales with the real signal—hard to judge by eye alone.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306824"/>
            <a:ext cx="111556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B7E4E"/>
                </a:solidFill>
              </a:defRPr>
            </a:pPr>
            <a:r>
              <a:t>Takeaway: The system ran, but results were not provable or interpretable.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2E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Project Goal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24128"/>
            <a:ext cx="11155680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Improve denoising performance end to end.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Add quantitative evaluation metrics.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Make visualization clear for reviewers.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Deliver a complete pipeline: train → demo → API.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807208"/>
            <a:ext cx="1115568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1A1A1A"/>
                </a:solidFill>
              </a:defRPr>
            </a:pPr>
            <a:r>
              <a:t>We do not stop at ‘cleaner pixels’—we expose measurable, explainable outcomes.</a:t>
            </a:r>
          </a:p>
          <a:p>
            <a:pPr>
              <a:defRPr sz="1200" i="1">
                <a:solidFill>
                  <a:srgbClr val="1A1A1A"/>
                </a:solidFill>
              </a:defRPr>
            </a:pPr>
            <a:r>
              <a:t>That is what makes the work exam-ready.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831336"/>
            <a:ext cx="111556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B7E4E"/>
                </a:solidFill>
              </a:defRPr>
            </a:pPr>
            <a:r>
              <a:t>Takeaway: Focus shifted from ‘just output’ to ‘validated output’.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2E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System Evolution</a:t>
            </a:r>
          </a:p>
        </p:txBody>
      </p:sp>
      <p:sp>
        <p:nvSpPr>
          <p:cNvPr id="5" name="Chevron 4"/>
          <p:cNvSpPr/>
          <p:nvPr/>
        </p:nvSpPr>
        <p:spPr>
          <a:xfrm>
            <a:off x="365760" y="1078992"/>
            <a:ext cx="2084831" cy="868680"/>
          </a:xfrm>
          <a:prstGeom prst="chevron">
            <a:avLst/>
          </a:prstGeom>
          <a:solidFill>
            <a:srgbClr val="2E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Problem</a:t>
            </a:r>
          </a:p>
        </p:txBody>
      </p:sp>
      <p:sp>
        <p:nvSpPr>
          <p:cNvPr id="6" name="Chevron 5"/>
          <p:cNvSpPr/>
          <p:nvPr/>
        </p:nvSpPr>
        <p:spPr>
          <a:xfrm>
            <a:off x="2606040" y="1078992"/>
            <a:ext cx="2084831" cy="868680"/>
          </a:xfrm>
          <a:prstGeom prst="chevron">
            <a:avLst/>
          </a:prstGeom>
          <a:solidFill>
            <a:srgbClr val="2E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Debug</a:t>
            </a:r>
          </a:p>
        </p:txBody>
      </p:sp>
      <p:sp>
        <p:nvSpPr>
          <p:cNvPr id="7" name="Chevron 6"/>
          <p:cNvSpPr/>
          <p:nvPr/>
        </p:nvSpPr>
        <p:spPr>
          <a:xfrm>
            <a:off x="4846320" y="1078992"/>
            <a:ext cx="2084831" cy="868680"/>
          </a:xfrm>
          <a:prstGeom prst="chevron">
            <a:avLst/>
          </a:prstGeom>
          <a:solidFill>
            <a:srgbClr val="2E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Fix</a:t>
            </a:r>
          </a:p>
        </p:txBody>
      </p:sp>
      <p:sp>
        <p:nvSpPr>
          <p:cNvPr id="8" name="Chevron 7"/>
          <p:cNvSpPr/>
          <p:nvPr/>
        </p:nvSpPr>
        <p:spPr>
          <a:xfrm>
            <a:off x="7086600" y="1078992"/>
            <a:ext cx="2084831" cy="868680"/>
          </a:xfrm>
          <a:prstGeom prst="chevron">
            <a:avLst/>
          </a:prstGeom>
          <a:solidFill>
            <a:srgbClr val="2E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Validation</a:t>
            </a:r>
          </a:p>
        </p:txBody>
      </p:sp>
      <p:sp>
        <p:nvSpPr>
          <p:cNvPr id="9" name="Chevron 8"/>
          <p:cNvSpPr/>
          <p:nvPr/>
        </p:nvSpPr>
        <p:spPr>
          <a:xfrm>
            <a:off x="9326880" y="1078992"/>
            <a:ext cx="2084831" cy="868680"/>
          </a:xfrm>
          <a:prstGeom prst="chevron">
            <a:avLst/>
          </a:prstGeom>
          <a:solidFill>
            <a:srgbClr val="1B7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48840"/>
            <a:ext cx="1115568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We found visualization and evaluation gaps early.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Added metrics, comparisons, and clearer UI handling.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Improved how data loads and displays in the demo.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Validated everything on real SAMPLE patches and JSON baselines.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657600"/>
            <a:ext cx="111556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1A1A1A"/>
                </a:solidFill>
              </a:defRPr>
            </a:pPr>
            <a:r>
              <a:t>We moved step by step: each gap got a fix, then we checked with numbers.</a:t>
            </a:r>
          </a:p>
          <a:p>
            <a:pPr>
              <a:defRPr sz="1200" i="1">
                <a:solidFill>
                  <a:srgbClr val="1A1A1A"/>
                </a:solidFill>
              </a:defRPr>
            </a:pPr>
            <a:r>
              <a:t>So the story is linear—easy to tell in the viva.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892040"/>
            <a:ext cx="111556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B7E4E"/>
                </a:solidFill>
              </a:defRPr>
            </a:pPr>
            <a:r>
              <a:t>Takeaway: We turned a demo into a research-level, validated system.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2E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New Model: Residual U-Net (Res-UNet)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87552"/>
            <a:ext cx="11155680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Res-UNet backbone with skip links reuses fine detail.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Skip connections feed shallow features to the decoder.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Training gets healthier gradients along deep layers.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Stronger features help grainy SAR inputs.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788920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E5EAA"/>
                </a:solidFill>
              </a:defRPr>
            </a:pPr>
            <a:r>
              <a:t>Theory: residual blocks learn F(x) + x, not only F(x) — eases vanishing gradients.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273552"/>
            <a:ext cx="111556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1A1A1A"/>
                </a:solidFill>
              </a:defRPr>
            </a:pPr>
            <a:r>
              <a:t>Compared with a plain U-Net, Res-UNet fits noisy SAR better in our setup.</a:t>
            </a:r>
          </a:p>
          <a:p>
            <a:pPr>
              <a:defRPr sz="1200" i="1">
                <a:solidFill>
                  <a:srgbClr val="1A1A1A"/>
                </a:solidFill>
              </a:defRPr>
            </a:pPr>
            <a:r>
              <a:t>So we gain stability and cleaner outputs.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343400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33333"/>
                </a:solidFill>
              </a:defRPr>
            </a:pPr>
            <a:r>
              <a:t>Impact: higher PSNR/SSIM trends; more stable denoised tiles.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349240"/>
            <a:ext cx="111556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B7E4E"/>
                </a:solidFill>
              </a:defRPr>
            </a:pPr>
            <a:r>
              <a:t>Takeaway: Better architecture → better SAR denoising quality.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2E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Denoising Output (Proof)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60120"/>
            <a:ext cx="10972800" cy="2606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3657600"/>
            <a:ext cx="1115568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Input: noisy SAR-style patch (left).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Output: denoised patch (center).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Difference map shows per-pixel correction (right).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Bright regions = strongest noise removal.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029200"/>
            <a:ext cx="111556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1A1A1A"/>
                </a:solidFill>
              </a:defRPr>
            </a:pPr>
            <a:r>
              <a:t>Noise drops a lot; edges and bright spots stay meaningful.</a:t>
            </a:r>
          </a:p>
          <a:p>
            <a:pPr>
              <a:defRPr sz="1200" i="1">
                <a:solidFill>
                  <a:srgbClr val="1A1A1A"/>
                </a:solidFill>
              </a:defRPr>
            </a:pPr>
            <a:r>
              <a:t>The map answers ‘where did the model actually change pixels?’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989320"/>
            <a:ext cx="111556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B7E4E"/>
                </a:solidFill>
              </a:defRPr>
            </a:pPr>
            <a:r>
              <a:t>Takeaway: Model removes speckle without destroying structure.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2E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Metrics: Theory + Interpretation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11155680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MAD = mean(|A − B|): average pixel gap.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SSIM ∈ [0, 1]: structural similarity to reference.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PSNR in dB: higher means lower MSE vs clean.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Together they objectify ‘better’ and ‘different’.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834639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E5EAA"/>
                </a:solidFill>
              </a:defRPr>
            </a:pPr>
            <a:r>
              <a:t>MAD = mean(|A−B|)   |   SSIM(x,y)   |   PSNR = 10·log10(MAX²/MSE)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310127"/>
            <a:ext cx="1115568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1A1A1A"/>
                </a:solidFill>
              </a:defRPr>
            </a:pPr>
            <a:r>
              <a:t>MAD ≈ 0.09 ⇒ about 9% mean |Δ| on [0,1] patches—not duplicates.</a:t>
            </a:r>
          </a:p>
          <a:p>
            <a:pPr>
              <a:defRPr sz="1200" i="1">
                <a:solidFill>
                  <a:srgbClr val="1A1A1A"/>
                </a:solidFill>
              </a:defRPr>
            </a:pPr>
            <a:r>
              <a:t>SSIM &lt; 1 ⇒ not identical; higher PSNR ⇒ better denoising (e.g. TV 19.48 dB baseline).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334256"/>
            <a:ext cx="111556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B7E4E"/>
                </a:solidFill>
              </a:defRPr>
            </a:pPr>
            <a:r>
              <a:t>Takeaway: Metrics give objective proof of performance.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2E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Method Comparison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024128"/>
          <a:ext cx="10515600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468629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2E5EA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PSNR (dB)</a:t>
                      </a:r>
                    </a:p>
                  </a:txBody>
                  <a:tcPr>
                    <a:solidFill>
                      <a:srgbClr val="2E5EA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SSIM</a:t>
                      </a:r>
                    </a:p>
                  </a:txBody>
                  <a:tcPr>
                    <a:solidFill>
                      <a:srgbClr val="2E5EAA"/>
                    </a:solidFill>
                  </a:tcPr>
                </a:tc>
              </a:tr>
              <a:tr h="468629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TV (baseline)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19.48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0.630</a:t>
                      </a:r>
                    </a:p>
                  </a:txBody>
                  <a:tcPr/>
                </a:tc>
              </a:tr>
              <a:tr h="468629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Direct DL (typical)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~28.5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~0.82</a:t>
                      </a:r>
                    </a:p>
                  </a:txBody>
                  <a:tcPr/>
                </a:tc>
              </a:tr>
              <a:tr h="46863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ADMM-PnP-DL (typical)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~31.0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~0.88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3063240"/>
            <a:ext cx="111556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TV: simple classical baseline — fast, weaker scores.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DL: one forward pass — faster runs, strong gains.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ADMM-PnP-DL: hybrid loop — best quality band here.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343400"/>
            <a:ext cx="111556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1A1A1A"/>
                </a:solidFill>
              </a:defRPr>
            </a:pPr>
            <a:r>
              <a:t>TV row is measured from our repo baseline JSON; DL rows are typical README bands.</a:t>
            </a:r>
          </a:p>
          <a:p>
            <a:pPr>
              <a:defRPr sz="1200" i="1">
                <a:solidFill>
                  <a:srgbClr val="1A1A1A"/>
                </a:solidFill>
              </a:defRPr>
            </a:pPr>
            <a:r>
              <a:t>Learned and hybrid methods beat classical TV on these metrics.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394960"/>
            <a:ext cx="111556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B7E4E"/>
                </a:solidFill>
              </a:defRPr>
            </a:pPr>
            <a:r>
              <a:t>Takeaway: Learned and hybrid methods outperform classical TV here.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2E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Visualization Upgrade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24128"/>
            <a:ext cx="11155680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Contrast stretching improves thumbnail visibility.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Difference maps show pixel-level changes.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Zoom and ROI support detailed inspection.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Histograms show intensity distribution.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807208"/>
            <a:ext cx="1115568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1A1A1A"/>
                </a:solidFill>
              </a:defRPr>
            </a:pPr>
            <a:r>
              <a:t>Speckle makes SAR patches look alike at small scale.</a:t>
            </a:r>
          </a:p>
          <a:p>
            <a:pPr>
              <a:defRPr sz="1200" i="1">
                <a:solidFill>
                  <a:srgbClr val="1A1A1A"/>
                </a:solidFill>
              </a:defRPr>
            </a:pPr>
            <a:r>
              <a:t>These tools reveal hidden radiometric differences clearly.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831336"/>
            <a:ext cx="111556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B7E4E"/>
                </a:solidFill>
              </a:defRPr>
            </a:pPr>
            <a:r>
              <a:t>Takeaway: Visualization makes results easy to interpret.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2E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Similarity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24128"/>
            <a:ext cx="11155680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SHA256 hashes check bit-level identity.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MAD and SSIM quantify how two patches differ.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Normalized difference maps show where pixels disagree.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807208"/>
            <a:ext cx="1115568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1A1A1A"/>
                </a:solidFill>
              </a:defRPr>
            </a:pPr>
            <a:r>
              <a:t>MAD ≈ 0.09 ⇒ large average gap; SSIM &lt; 1 ⇒ not the same structure.</a:t>
            </a:r>
          </a:p>
          <a:p>
            <a:pPr>
              <a:defRPr sz="1200" i="1">
                <a:solidFill>
                  <a:srgbClr val="1A1A1A"/>
                </a:solidFill>
              </a:defRPr>
            </a:pPr>
            <a:r>
              <a:t>Different hashes ⇒ different files—no duplicate confusion.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831336"/>
            <a:ext cx="111556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B7E4E"/>
                </a:solidFill>
              </a:defRPr>
            </a:pPr>
            <a:r>
              <a:t>Takeaway: Images are proven different mathematically and visually.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2E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TTA Uncertainty (Advanced)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24128"/>
            <a:ext cx="11155680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Run several flips/rotations of the input (Direct path).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Average predictions → final denoised image.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Standard deviation across views → uncertainty map.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Exposed in API JSON and optional GeoTIFF second band.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80720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E5EAA"/>
                </a:solidFill>
              </a:defRPr>
            </a:pPr>
            <a:r>
              <a:t>Theory: std across augmented forwards ≈ epistemic spread (proxy).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282696"/>
            <a:ext cx="1115568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1A1A1A"/>
                </a:solidFill>
              </a:defRPr>
            </a:pPr>
            <a:r>
              <a:t>Variance across TTA views acts as a cheap confidence proxy.</a:t>
            </a:r>
          </a:p>
          <a:p>
            <a:pPr>
              <a:defRPr sz="1200" i="1">
                <a:solidFill>
                  <a:srgbClr val="1A1A1A"/>
                </a:solidFill>
              </a:defRPr>
            </a:pPr>
            <a:r>
              <a:t>Low variance ⇒ stable prediction; high variance ⇒ less certain regions.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306824"/>
            <a:ext cx="111556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B7E4E"/>
                </a:solidFill>
              </a:defRPr>
            </a:pPr>
            <a:r>
              <a:t>Takeaway: Adds reliability and interpretability beyond a single forward pass.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2E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Batch 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24128"/>
            <a:ext cx="11155680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Process multiple patches in one workflow.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SAMPLE grid supports batch denoise up to a safe cap.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ZIP workflows exist for larger batch uploads elsewhere.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Metrics can summarize many runs for review.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807208"/>
            <a:ext cx="1115568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1A1A1A"/>
                </a:solidFill>
              </a:defRPr>
            </a:pPr>
            <a:r>
              <a:t>Batch paths save time when you must scan many tiles.</a:t>
            </a:r>
          </a:p>
          <a:p>
            <a:pPr>
              <a:defRPr sz="1200" i="1">
                <a:solidFill>
                  <a:srgbClr val="1A1A1A"/>
                </a:solidFill>
              </a:defRPr>
            </a:pPr>
            <a:r>
              <a:t>So the tool fits small studies and larger sweeps.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831336"/>
            <a:ext cx="111556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B7E4E"/>
                </a:solidFill>
              </a:defRPr>
            </a:pPr>
            <a:r>
              <a:t>Takeaway: The system scales beyond one image at a time.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2E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API &amp; System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24128"/>
            <a:ext cx="11155680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FastAPI service for HTTP inference and health checks.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Optional Redis + RQ queue for async jobs.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CLI scripts automate training and evaluation.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807208"/>
            <a:ext cx="1115568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1A1A1A"/>
                </a:solidFill>
              </a:defRPr>
            </a:pPr>
            <a:r>
              <a:t>The same core service powers the web API and demos.</a:t>
            </a:r>
          </a:p>
          <a:p>
            <a:pPr>
              <a:defRPr sz="1200" i="1">
                <a:solidFill>
                  <a:srgbClr val="1A1A1A"/>
                </a:solidFill>
              </a:defRPr>
            </a:pPr>
            <a:r>
              <a:t>Async mode helps when many users or jobs hit the server.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831336"/>
            <a:ext cx="111556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B7E4E"/>
                </a:solidFill>
              </a:defRPr>
            </a:pPr>
            <a:r>
              <a:t>Takeaway: Deployment-ready service design—not only a local notebook.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2E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Real-World 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24128"/>
            <a:ext cx="11155680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GeoTIFF pipeline for geospatial SAR tiles.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ONNX export path for portable inference.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Two-band GeoTIFF option: denoised + uncertainty.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807208"/>
            <a:ext cx="1115568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1A1A1A"/>
                </a:solidFill>
              </a:defRPr>
            </a:pPr>
            <a:r>
              <a:t>GeoTIFF matches operational data formats; ONNX fits edge and cloud deploy.</a:t>
            </a:r>
          </a:p>
          <a:p>
            <a:pPr>
              <a:defRPr sz="1200" i="1">
                <a:solidFill>
                  <a:srgbClr val="1A1A1A"/>
                </a:solidFill>
              </a:defRPr>
            </a:pPr>
            <a:r>
              <a:t>So the lab work connects to real sensors and production stacks.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831336"/>
            <a:ext cx="111556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B7E4E"/>
                </a:solidFill>
              </a:defRPr>
            </a:pPr>
            <a:r>
              <a:t>Takeaway: Usable beyond the lab demo scenario.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2E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Before vs After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024128"/>
          <a:ext cx="1078992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4960"/>
                <a:gridCol w="5394960"/>
              </a:tblGrid>
              <a:tr h="53721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Before</a:t>
                      </a:r>
                    </a:p>
                  </a:txBody>
                  <a:tcPr>
                    <a:solidFill>
                      <a:srgbClr val="2E5EA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After</a:t>
                      </a:r>
                    </a:p>
                  </a:txBody>
                  <a:tcPr>
                    <a:solidFill>
                      <a:srgbClr val="2E5EAA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Unclear outputs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Validated outputs with metrics</a:t>
                      </a:r>
                    </a:p>
                  </a:txBody>
                  <a:tcPr/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No proper evaluation path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Quantitative PSNR, SSIM, MAD, hashes</a:t>
                      </a:r>
                    </a:p>
                  </a:txBody>
                  <a:tcPr/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Confusing visualization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Stretch, diff maps, zoom, histograms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3337560"/>
            <a:ext cx="111556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1A1A1A"/>
                </a:solidFill>
              </a:defRPr>
            </a:pPr>
            <a:r>
              <a:t>We moved from guess-based demos to proof-based results.</a:t>
            </a:r>
          </a:p>
          <a:p>
            <a:pPr>
              <a:defRPr sz="1200" i="1">
                <a:solidFill>
                  <a:srgbClr val="1A1A1A"/>
                </a:solidFill>
              </a:defRPr>
            </a:pPr>
            <a:r>
              <a:t>Every claim can tie back to a number or a figure.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434840"/>
            <a:ext cx="111556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B7E4E"/>
                </a:solidFill>
              </a:defRPr>
            </a:pPr>
            <a:r>
              <a:t>Takeaway: Results are now measurable and interpretable.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2E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Final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1155680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Stronger denoising via Res-UNet and hybrid methods.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Full validation: metrics, baselines, similarity checks.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Rich visualization and blind QA when no reference exists.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End-to-end pipeline: Streamlit, API, batch, GeoTIFF, ONNX.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788920"/>
            <a:ext cx="1115568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1A1A1A"/>
                </a:solidFill>
              </a:defRPr>
            </a:pPr>
            <a:r>
              <a:t>Model quality, evaluation rigor, and usability now align.</a:t>
            </a:r>
          </a:p>
          <a:p>
            <a:pPr>
              <a:defRPr sz="1200" i="1">
                <a:solidFill>
                  <a:srgbClr val="1A1A1A"/>
                </a:solidFill>
              </a:defRPr>
            </a:pPr>
            <a:r>
              <a:t>That is the bar we wanted for a final-year research project.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813048"/>
            <a:ext cx="111556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B7E4E"/>
                </a:solidFill>
              </a:defRPr>
            </a:pPr>
            <a:r>
              <a:t>Takeaway: Reliable, explainable, and scalable SAR denoising system.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2E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24128"/>
            <a:ext cx="11155680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Improved architecture: Res-UNet with residual learning.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Quantitative validation: PSNR, SSIM, MAD, hashes, TTA.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Complete pipeline: demo, API, batch, real-world formats.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Verified on real SAMPLE data and frozen TV baseline.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807208"/>
            <a:ext cx="1115568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1A1A1A"/>
                </a:solidFill>
              </a:defRPr>
            </a:pPr>
            <a:r>
              <a:t>The project is scientifically grounded—not only ‘it runs’.</a:t>
            </a:r>
          </a:p>
          <a:p>
            <a:pPr>
              <a:defRPr sz="1200" i="1">
                <a:solidFill>
                  <a:srgbClr val="1A1A1A"/>
                </a:solidFill>
              </a:defRPr>
            </a:pPr>
            <a:r>
              <a:t>Reviewers can trace every claim to a metric or a figure.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831336"/>
            <a:ext cx="111556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B7E4E"/>
                </a:solidFill>
              </a:defRPr>
            </a:pPr>
            <a:r>
              <a:t>Takeaway: Results are now proven, not assumed.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